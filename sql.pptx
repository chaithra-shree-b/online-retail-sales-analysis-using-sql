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64" r:id="rId9"/>
    <p:sldId id="262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3C0-63F9-B58F-35B9-1C1AB031D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576E3-2385-901A-1ABA-79B4ECFED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1D760-B9DC-E4B7-9651-0E4CB921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1D891-2D27-4D4D-817D-4E11A838233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2B09E-6B0A-5808-B09E-BE2F1033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78368-FE92-3358-94AD-312B71C9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54517-0BDB-4983-8021-D80215857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47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F00A9-99A4-E491-CA8A-124C49707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AA06-4670-429F-0D2C-A10A125D1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401D7-C24A-9B87-12E9-250C1ABC9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1D891-2D27-4D4D-817D-4E11A838233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D0F55-E125-E851-B582-0440F1C3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387EE-6864-D764-AB37-E01E1AFF8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54517-0BDB-4983-8021-D80215857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797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7DB3C-C772-E3FE-7E5A-219712F31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39F34-BED4-5A4F-FE57-5B1E39FF6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07CF2-8A63-164B-F2F9-9B20CAA00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1D891-2D27-4D4D-817D-4E11A838233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D24AD-CC13-BCE2-D464-37BBFC985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FBFB4-BF0A-1C4B-ED1D-A78D8D7E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54517-0BDB-4983-8021-D80215857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19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0FA47-FBCC-A45C-E317-140E35222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8AD1B-CADC-B04F-8B2D-F43584942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E2E44-0847-A566-8083-43B82A214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4FFC1-9222-450A-BCD8-2A148CC9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1D891-2D27-4D4D-817D-4E11A838233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8F72F-ED09-DA2C-5B33-60D7B2AD1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6A4E0-8E28-AE70-9B6E-035D36DC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54517-0BDB-4983-8021-D80215857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586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B90AE-C3D0-AE32-D110-26BAC82F3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B2037-B08F-BF78-D075-293F102BC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2BE07-ECCB-0F46-A75B-E36A0B51D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B9162F-6646-7AC5-F3F6-9454F4AEB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2014CF-CB54-21EF-70F0-453888672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B733F5-1003-E02B-8525-D097E7B7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1D891-2D27-4D4D-817D-4E11A838233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27E5F7-7402-F995-D603-1CADDADC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1810D9-9478-8073-BB28-27CA3D2B0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54517-0BDB-4983-8021-D80215857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087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CD816-893A-F6BF-3546-F1D0F8F85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E4C6A-69B3-09D0-3E0D-39D0D8D24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1D891-2D27-4D4D-817D-4E11A838233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47C0E-7343-7EC4-E565-E263E7B79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513C25-4CB5-C807-CBE0-005597CE5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54517-0BDB-4983-8021-D80215857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842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92ED9-900F-44BA-15DD-81B927287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1D891-2D27-4D4D-817D-4E11A838233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55864A-6742-1E51-C543-72C243039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896BA-AC05-B05E-00E7-A8B732881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54517-0BDB-4983-8021-D80215857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402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841A5-0353-4740-E4CB-F7CAF709F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4E1E6-C2D4-164B-9EEE-CB63F050A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D90B3-BECD-DC5B-1142-DCB04E477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2A31F-3DFF-7978-4CC5-593719D93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1D891-2D27-4D4D-817D-4E11A838233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9E0C8-9B17-FEAE-B561-58D63E11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73D5A-0E30-5A18-9B99-630741EDF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54517-0BDB-4983-8021-D80215857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495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F78D8-E65C-F87A-D343-DAA3876E7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77F26-B992-77AA-D528-B294EF3939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CA586-1797-5311-E4F8-AFF8C1A0D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676B5-D57F-C850-B81D-54BF9EDF9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1D891-2D27-4D4D-817D-4E11A838233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75018-49D2-2C25-F5D0-2A8412307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AE25C-4E58-E279-06D5-4E93E94D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54517-0BDB-4983-8021-D80215857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546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2862A-AD44-A674-4A28-1E64904C7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AB2D0-7B14-7B67-F4DE-9A0EB4F98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98B2A-D949-1A4B-4660-68289FF34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1D891-2D27-4D4D-817D-4E11A838233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190DB-5AC6-73BC-1CE1-3075C86D4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AA444-F09D-A457-C388-AD13280B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54517-0BDB-4983-8021-D80215857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229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A400D2-6D5B-AFDA-14DF-25F6F0B6A6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6B552-EF92-D135-C245-E1454D1F7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C1197-FC02-C6F4-F4AB-1C0B845C5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1D891-2D27-4D4D-817D-4E11A838233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D71BD-EE47-10E2-AD78-88FF48DE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1B422-4956-417D-F6CB-32713AEDB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54517-0BDB-4983-8021-D80215857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674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F165A-9AC1-2455-18EA-FE3D5BDF8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FA94F-C97B-FBAE-5DB8-6323DC97D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269FA-FDF0-3D64-5F7E-00B9C32E68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1D891-2D27-4D4D-817D-4E11A8382334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5F018-B9AA-F995-4BA3-F0F814CC0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7087E-156F-5E38-6E51-6237D706F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54517-0BDB-4983-8021-D80215857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94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5FF3F1-0D94-B86D-FD38-8CCF6D4C1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74626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89D126-90DF-AF16-FDC1-AEE77CB343DE}"/>
              </a:ext>
            </a:extLst>
          </p:cNvPr>
          <p:cNvSpPr txBox="1"/>
          <p:nvPr/>
        </p:nvSpPr>
        <p:spPr>
          <a:xfrm>
            <a:off x="6882581" y="1966451"/>
            <a:ext cx="36477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Online Retail Sales Analysis using SQL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576B3D-1BD5-0556-BED0-31EC6D5F2E33}"/>
              </a:ext>
            </a:extLst>
          </p:cNvPr>
          <p:cNvCxnSpPr>
            <a:cxnSpLocks/>
          </p:cNvCxnSpPr>
          <p:nvPr/>
        </p:nvCxnSpPr>
        <p:spPr>
          <a:xfrm>
            <a:off x="6243484" y="3163529"/>
            <a:ext cx="4680155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562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D95C59-35F0-FA22-09D4-258FC027F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233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246411-36A0-5532-19C6-37968A60142B}"/>
              </a:ext>
            </a:extLst>
          </p:cNvPr>
          <p:cNvSpPr txBox="1"/>
          <p:nvPr/>
        </p:nvSpPr>
        <p:spPr>
          <a:xfrm>
            <a:off x="707922" y="566678"/>
            <a:ext cx="10776155" cy="57246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2400" b="1"/>
              <a:t>Problem Statement</a:t>
            </a:r>
          </a:p>
          <a:p>
            <a:endParaRPr lang="en-IN"/>
          </a:p>
          <a:p>
            <a:r>
              <a:rPr lang="en-IN"/>
              <a:t>E-commerce businesses generate massive transactional data, but struggle to extract meaningful insights.</a:t>
            </a:r>
          </a:p>
          <a:p>
            <a:endParaRPr lang="en-IN" b="1"/>
          </a:p>
          <a:p>
            <a:r>
              <a:rPr lang="en-IN" b="1"/>
              <a:t>Goal:</a:t>
            </a:r>
            <a:br>
              <a:rPr lang="en-IN"/>
            </a:br>
            <a:r>
              <a:rPr lang="en-IN"/>
              <a:t>Use SQL to analyze sales data and answer key business questions: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/>
              <a:t>How much revenue is generated?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/>
              <a:t>Who are the top customers?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/>
              <a:t>What products perform best?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/>
          </a:p>
          <a:p>
            <a:r>
              <a:rPr lang="en-IN" b="1"/>
              <a:t>Dataset Overview</a:t>
            </a:r>
          </a:p>
          <a:p>
            <a:r>
              <a:rPr lang="en-IN"/>
              <a:t>Dataset: Online Retail </a:t>
            </a:r>
          </a:p>
          <a:p>
            <a:r>
              <a:rPr lang="en-IN"/>
              <a:t>Contains: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/>
              <a:t>CustomerID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/>
              <a:t>InvoiceDate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/>
              <a:t>Product Description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/>
              <a:t>Quantity &amp; Unit Price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/>
              <a:t>Country </a:t>
            </a:r>
          </a:p>
          <a:p>
            <a:r>
              <a:rPr lang="en-IN" b="1"/>
              <a:t>Type:</a:t>
            </a:r>
            <a:r>
              <a:rPr lang="en-IN"/>
              <a:t> Transactional Sales Data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44052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3C610-FFA2-6E23-A51A-1D92D948D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7F7266-DAAE-AB76-24EC-6EF9157F3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" y="0"/>
            <a:ext cx="1217233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100754-5C81-1C55-0518-D8BDF3525F1D}"/>
              </a:ext>
            </a:extLst>
          </p:cNvPr>
          <p:cNvSpPr txBox="1"/>
          <p:nvPr/>
        </p:nvSpPr>
        <p:spPr>
          <a:xfrm>
            <a:off x="825908" y="335847"/>
            <a:ext cx="1054018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/>
              <a:t>Question:</a:t>
            </a:r>
            <a:r>
              <a:rPr lang="en-IN" sz="2400"/>
              <a:t> What is total revenue generated?</a:t>
            </a:r>
          </a:p>
          <a:p>
            <a:endParaRPr lang="en-IN"/>
          </a:p>
          <a:p>
            <a:r>
              <a:rPr lang="en-IN" b="1"/>
              <a:t>Insight: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The business generated ~9.7M in total revenue, indicating strong market presence.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Calculated using: SUM(Quantity * UnitPrice)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Reveals overall business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BD570B-9CE4-AF33-74C1-9919D45C80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18" y="2518352"/>
            <a:ext cx="8482243" cy="411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77782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D4772-785E-56D4-126F-E7B337184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4D23C5-A80A-4840-779B-21245B00B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233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05E8A9-15D0-90EC-2F3D-79D212564A35}"/>
              </a:ext>
            </a:extLst>
          </p:cNvPr>
          <p:cNvSpPr txBox="1"/>
          <p:nvPr/>
        </p:nvSpPr>
        <p:spPr>
          <a:xfrm>
            <a:off x="1091381" y="481781"/>
            <a:ext cx="99797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/>
              <a:t>Question:</a:t>
            </a:r>
            <a:r>
              <a:rPr lang="en-IN" sz="2400"/>
              <a:t> Which country generates highest revenue?</a:t>
            </a:r>
          </a:p>
          <a:p>
            <a:endParaRPr lang="en-IN" b="1"/>
          </a:p>
          <a:p>
            <a:r>
              <a:rPr lang="en-IN" b="1"/>
              <a:t>Insight: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80–85% revenue comes from one country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United Kingdom </a:t>
            </a:r>
            <a:r>
              <a:rPr lang="en-IN" b="1"/>
              <a:t>(~8.1M+)</a:t>
            </a:r>
            <a:r>
              <a:rPr lang="en-IN"/>
              <a:t> contributes the highest revenue.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EBC63-F27C-BCA0-000B-7D0A45D87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969" y="2353493"/>
            <a:ext cx="8437998" cy="420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3136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390DB-196E-D97F-ED9F-9F35C4416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153F6F-7014-A3E1-9EFC-6B7609278F88}"/>
              </a:ext>
            </a:extLst>
          </p:cNvPr>
          <p:cNvSpPr txBox="1"/>
          <p:nvPr/>
        </p:nvSpPr>
        <p:spPr>
          <a:xfrm>
            <a:off x="1150374" y="501445"/>
            <a:ext cx="986175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/>
              <a:t>Question:</a:t>
            </a:r>
            <a:r>
              <a:rPr lang="en-IN" sz="2400"/>
              <a:t> Top 5 products by revenue?</a:t>
            </a:r>
          </a:p>
          <a:p>
            <a:endParaRPr lang="en-IN" b="1"/>
          </a:p>
          <a:p>
            <a:r>
              <a:rPr lang="en-IN" b="1"/>
              <a:t>Insight:</a:t>
            </a:r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Identified best-selling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High demand items drive majority of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A few products generate a large portion of revenue.</a:t>
            </a:r>
          </a:p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27BB68-A04D-0AD7-8E4E-E35C05698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748" y="2528279"/>
            <a:ext cx="8529484" cy="396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4509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E7F27-816D-2E09-460F-E7621A707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8A1921-1D95-AD23-52EC-BC90376F7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BD3424-A544-AE50-206A-B12835E3415C}"/>
              </a:ext>
            </a:extLst>
          </p:cNvPr>
          <p:cNvSpPr txBox="1"/>
          <p:nvPr/>
        </p:nvSpPr>
        <p:spPr>
          <a:xfrm>
            <a:off x="1091379" y="477544"/>
            <a:ext cx="957661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/>
              <a:t>Question:</a:t>
            </a:r>
            <a:r>
              <a:rPr lang="en-IN" sz="2400"/>
              <a:t> How many unique customers?</a:t>
            </a:r>
          </a:p>
          <a:p>
            <a:endParaRPr lang="en-IN" b="1"/>
          </a:p>
          <a:p>
            <a:r>
              <a:rPr lang="en-IN" b="1"/>
              <a:t>Insight:</a:t>
            </a:r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Total unique customers calculated using COUNT(DISTINCT CustomerID)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4,300+ customers.</a:t>
            </a:r>
          </a:p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A4CDC5-179F-F80A-9861-6345BBE8C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927" y="2285976"/>
            <a:ext cx="8715106" cy="433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7033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3302F-9866-422E-4AA0-B70F4CA65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8DF09D-E898-5761-747B-111DA1938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489185-9AC3-2715-E935-A1B68CCADDC9}"/>
              </a:ext>
            </a:extLst>
          </p:cNvPr>
          <p:cNvSpPr txBox="1"/>
          <p:nvPr/>
        </p:nvSpPr>
        <p:spPr>
          <a:xfrm>
            <a:off x="914400" y="570271"/>
            <a:ext cx="1015672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/>
              <a:t>Question:</a:t>
            </a:r>
            <a:r>
              <a:rPr lang="en-IN" sz="2400"/>
              <a:t> Which customer has spent the most money?</a:t>
            </a:r>
          </a:p>
          <a:p>
            <a:endParaRPr lang="en-IN" b="1"/>
          </a:p>
          <a:p>
            <a:r>
              <a:rPr lang="en-IN" b="1"/>
              <a:t>Insight:</a:t>
            </a:r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Identified highest value customer.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One customer contributes significantly higher spend.</a:t>
            </a:r>
          </a:p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49D42C-F16C-769F-74DB-2352565B9E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309" y="2229373"/>
            <a:ext cx="8711381" cy="434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8497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41618-AEDA-7DEB-21A7-B704430D7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E6D6C-6CB4-A2B5-FCF7-A276A892F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CB13C7-72C8-8FAD-1479-0F05C4AAC98B}"/>
              </a:ext>
            </a:extLst>
          </p:cNvPr>
          <p:cNvSpPr txBox="1"/>
          <p:nvPr/>
        </p:nvSpPr>
        <p:spPr>
          <a:xfrm>
            <a:off x="796413" y="521110"/>
            <a:ext cx="1019605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/>
              <a:t>Question:</a:t>
            </a:r>
            <a:r>
              <a:rPr lang="en-IN" sz="2400"/>
              <a:t> What is the average order value (AOV)?</a:t>
            </a:r>
          </a:p>
          <a:p>
            <a:endParaRPr lang="en-IN" b="1"/>
          </a:p>
          <a:p>
            <a:r>
              <a:rPr lang="en-IN" b="1"/>
              <a:t>Insight:</a:t>
            </a:r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Average revenue per order calculated.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AOV ≈ </a:t>
            </a:r>
            <a:r>
              <a:rPr lang="en-IN" b="1"/>
              <a:t>~270–280.</a:t>
            </a:r>
            <a:endParaRPr lang="en-IN"/>
          </a:p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66AA4D-B4C0-36DB-0857-2EC9DED147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66" y="2405513"/>
            <a:ext cx="8406583" cy="413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5996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B8FB7-8857-DABD-FDC8-5F9732A6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0D63A2-E2F3-073A-64B0-CFA44992A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D501DA-7144-5CE6-819E-89F9FCEA86C0}"/>
              </a:ext>
            </a:extLst>
          </p:cNvPr>
          <p:cNvSpPr txBox="1"/>
          <p:nvPr/>
        </p:nvSpPr>
        <p:spPr>
          <a:xfrm>
            <a:off x="1199535" y="511277"/>
            <a:ext cx="910467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/>
              <a:t>Question:</a:t>
            </a:r>
            <a:r>
              <a:rPr lang="en-IN" sz="2400"/>
              <a:t> How does revenue change over time?</a:t>
            </a:r>
          </a:p>
          <a:p>
            <a:endParaRPr lang="en-IN" b="1"/>
          </a:p>
          <a:p>
            <a:r>
              <a:rPr lang="en-IN" b="1"/>
              <a:t>Insight:</a:t>
            </a:r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Monthly trend analysis shows sales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Revenue fluctuates with noticeable peaks.</a:t>
            </a:r>
          </a:p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E0D405-D68A-4555-B52C-6C8BC4AED4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478" y="2191364"/>
            <a:ext cx="8485238" cy="437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43178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F596F-07D3-BAD7-44C6-23A40354C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335E1B-CACD-16FE-F961-0A816125C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0CCCB1-DAC0-79EC-F914-4EBCBD5F03A7}"/>
              </a:ext>
            </a:extLst>
          </p:cNvPr>
          <p:cNvSpPr txBox="1"/>
          <p:nvPr/>
        </p:nvSpPr>
        <p:spPr>
          <a:xfrm>
            <a:off x="806245" y="442452"/>
            <a:ext cx="10382865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/>
              <a:t>Key Insights</a:t>
            </a:r>
          </a:p>
          <a:p>
            <a:endParaRPr lang="en-IN" sz="2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Majority revenue comes from a single country.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Few products drive most of the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High-value customers contribute significantly.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Sales show time-based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/>
          </a:p>
          <a:p>
            <a:r>
              <a:rPr lang="en-IN" sz="2400" b="1"/>
              <a:t>Business Recommendations</a:t>
            </a:r>
          </a:p>
          <a:p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Focus on top-performing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Promote high-revenue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Retain top customers with loyalty programs.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Use trends for demand forecasting.</a:t>
            </a:r>
          </a:p>
          <a:p>
            <a:endParaRPr lang="en-IN"/>
          </a:p>
          <a:p>
            <a:r>
              <a:rPr lang="en-IN" sz="2400" b="1"/>
              <a:t>Conclusion</a:t>
            </a:r>
          </a:p>
          <a:p>
            <a:endParaRPr lang="en-IN"/>
          </a:p>
          <a:p>
            <a:r>
              <a:rPr lang="en-IN"/>
              <a:t>This project demonstrates how SQL can transform raw data into actionable insights, helping businesses make data-driven decisions.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27975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340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Chaithra Shree B</dc:creator>
  <cp:lastModifiedBy>Chaithra Shree B</cp:lastModifiedBy>
  <cp:revision>1</cp:revision>
  <dcterms:created xsi:type="dcterms:W3CDTF">2026-04-14T11:12:16Z</dcterms:created>
  <dcterms:modified xsi:type="dcterms:W3CDTF">2026-04-14T11:55:31Z</dcterms:modified>
</cp:coreProperties>
</file>